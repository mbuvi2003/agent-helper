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ae26e2.png"/><Relationship Id="rId2" Type="http://schemas.openxmlformats.org/officeDocument/2006/relationships/image" Target="../media/image-0624b8e2.png"/><Relationship Id="rId3" Type="http://schemas.openxmlformats.org/officeDocument/2006/relationships/image" Target="../media/image-74aa96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-1714d51e.png"/><Relationship Id="rId2" Type="http://schemas.openxmlformats.org/officeDocument/2006/relationships/image" Target="../media/image--10cc0e1e.png"/><Relationship Id="rId3" Type="http://schemas.openxmlformats.org/officeDocument/2006/relationships/image" Target="../media/image-5dc8f6a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91fde2.png"/><Relationship Id="rId2" Type="http://schemas.openxmlformats.org/officeDocument/2006/relationships/image" Target="../media/image-5317e8e2.png"/><Relationship Id="rId3" Type="http://schemas.openxmlformats.org/officeDocument/2006/relationships/image" Target="../media/image-040c4de2.png"/><Relationship Id="rId4" Type="http://schemas.openxmlformats.org/officeDocument/2006/relationships/image" Target="../media/image-60d43d22.png"/><Relationship Id="rId5" Type="http://schemas.openxmlformats.org/officeDocument/2006/relationships/image" Target="../media/image--1050991e.png"/><Relationship Id="rId6" Type="http://schemas.openxmlformats.org/officeDocument/2006/relationships/image" Target="../media/image--526e8d9e.png"/><Relationship Id="rId7" Type="http://schemas.openxmlformats.org/officeDocument/2006/relationships/image" Target="../media/image-6dace622.png"/><Relationship Id="rId8" Type="http://schemas.openxmlformats.org/officeDocument/2006/relationships/image" Target="../media/image-0dbf46a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a6650e2.png"/><Relationship Id="rId2" Type="http://schemas.openxmlformats.org/officeDocument/2006/relationships/image" Target="../media/image--450ae01e.png"/><Relationship Id="rId3" Type="http://schemas.openxmlformats.org/officeDocument/2006/relationships/image" Target="../media/image--56bd95de.png"/><Relationship Id="rId4" Type="http://schemas.openxmlformats.org/officeDocument/2006/relationships/image" Target="../media/image-330d242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-58b6bcde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e50b22.png"/><Relationship Id="rId2" Type="http://schemas.openxmlformats.org/officeDocument/2006/relationships/image" Target="../media/image--3e636fde.png"/><Relationship Id="rId3" Type="http://schemas.openxmlformats.org/officeDocument/2006/relationships/image" Target="../media/image-670588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-41b2dc1e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32b66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5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0765" y="2384822"/>
            <a:ext cx="9470470" cy="15001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5906"/>
              </a:lnSpc>
            </a:pPr>
            <a:r>
              <a:rPr lang="en-US" sz="5625" spc="-169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Agent Helper</a:t>
            </a:r>
            <a:pPr algn="ctr">
              <a:lnSpc>
                <a:spcPts val="5906"/>
              </a:lnSpc>
            </a:pPr>
            <a:r>
              <a:rPr lang="en-US" sz="5625" spc="-169" kern="0" dirty="0">
                <a:solidFill>
                  <a:srgbClr val="FFFFFF">
                    <a:alpha val="5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– Improving</a:t>
            </a:r>
            <a:br>
              <a:rPr lang="en-US" sz="5625" spc="-169" kern="0" dirty="0">
                <a:solidFill>
                  <a:srgbClr val="FFFFFF">
                    <a:alpha val="5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5625" spc="-169" kern="0" dirty="0">
                <a:solidFill>
                  <a:srgbClr val="FFFFFF">
                    <a:alpha val="50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Call Center Efficiency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691063" y="4140994"/>
            <a:ext cx="2809875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  <a:miter lim="800000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55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spc="-11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Problem</a:t>
            </a:r>
            <a:endParaRPr lang="en-US" dirty="0"/>
          </a:p>
        </p:txBody>
      </p:sp>
      <p:pic>
        <p:nvPicPr>
          <p:cNvPr id="3" name="Image 0" descr="70ae26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265" y="2841270"/>
            <a:ext cx="904875" cy="876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5775" y="4082653"/>
            <a:ext cx="340995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Frequent Repetitive Issues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71654" y="4398883"/>
            <a:ext cx="3638192" cy="6400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Agents consistently handle the same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customer problems daily (Top caller issues) 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such as SIM swaps and PIN resets.</a:t>
            </a:r>
            <a:endParaRPr lang="en-US" dirty="0"/>
          </a:p>
        </p:txBody>
      </p:sp>
      <p:pic>
        <p:nvPicPr>
          <p:cNvPr id="6" name="Image 1" descr="0624b8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519" y="2874761"/>
            <a:ext cx="8382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95788" y="4082653"/>
            <a:ext cx="3400425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Manual Processes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279225" y="4398883"/>
            <a:ext cx="3633550" cy="6400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Heavy reliance on manual notes (Notepad) 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and copy-pasting information leads to high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AHT and low call quality</a:t>
            </a:r>
            <a:endParaRPr lang="en-US" dirty="0"/>
          </a:p>
        </p:txBody>
      </p:sp>
      <p:pic>
        <p:nvPicPr>
          <p:cNvPr id="9" name="Image 2" descr="74aa96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737" y="2707332"/>
            <a:ext cx="781050" cy="1152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67700" y="4082653"/>
            <a:ext cx="346710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Physical and Cognitive Load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8150542" y="4398883"/>
            <a:ext cx="3701416" cy="8534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Agents experience increased mental  and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physical strain during customer interactions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due to these repetitive tasks and manual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workflows.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55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spc="-11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Solution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6677"/>
            <a:ext cx="11334750" cy="2346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48"/>
              </a:lnSpc>
              <a:spcBef>
                <a:spcPts val="980"/>
              </a:spcBef>
            </a:pPr>
            <a:r>
              <a:rPr lang="en-US" sz="132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Introducing Agent Helper - a single streamlined workflow</a:t>
            </a:r>
            <a:endParaRPr lang="en-US" dirty="0"/>
          </a:p>
        </p:txBody>
      </p:sp>
      <p:pic>
        <p:nvPicPr>
          <p:cNvPr id="4" name="Image 0" descr="-1714d5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8455" y="3245875"/>
            <a:ext cx="962025" cy="59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625" y="4319826"/>
            <a:ext cx="276225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Instant Issue Identification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27710" y="4636056"/>
            <a:ext cx="2926080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Quickly pinpoints the root cause of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customer concerns.</a:t>
            </a:r>
            <a:endParaRPr lang="en-US" dirty="0"/>
          </a:p>
        </p:txBody>
      </p:sp>
      <p:pic>
        <p:nvPicPr>
          <p:cNvPr id="7" name="Image 1" descr="-10cc0e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463" y="3100780"/>
            <a:ext cx="638175" cy="8286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05313" y="4319826"/>
            <a:ext cx="3381375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Guided Validation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288810" y="4636056"/>
            <a:ext cx="3614380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Leads agents step-by-step through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necessary vetting and validation processes.</a:t>
            </a:r>
            <a:endParaRPr lang="en-US" dirty="0"/>
          </a:p>
        </p:txBody>
      </p:sp>
      <p:pic>
        <p:nvPicPr>
          <p:cNvPr id="10" name="Image 2" descr="5dc8f6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088" y="3100770"/>
            <a:ext cx="857250" cy="8286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85321" y="4319826"/>
            <a:ext cx="3431857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Automated Response Generation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8180427" y="4636056"/>
            <a:ext cx="3641646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Creates accurate, polished responses, ready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for immediate use.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55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spc="-11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How Agent Helper Works</a:t>
            </a:r>
            <a:endParaRPr lang="en-US" dirty="0"/>
          </a:p>
        </p:txBody>
      </p:sp>
      <p:pic>
        <p:nvPicPr>
          <p:cNvPr id="3" name="Image 0" descr="1991f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3006090"/>
            <a:ext cx="2971800" cy="1209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125" y="3540681"/>
            <a:ext cx="238125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Detects the Issue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2000" y="4343400"/>
            <a:ext cx="2381250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Identifies the problem from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agent input.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1714500" y="277749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6E6E6">
                <a:alpha val="83000"/>
              </a:srgbClr>
            </a:solidFill>
            <a:prstDash val="solid"/>
            <a:miter lim="800000"/>
          </a:ln>
        </p:spPr>
      </p:sp>
      <p:pic>
        <p:nvPicPr>
          <p:cNvPr id="7" name="Image 1" descr="5317e8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912" y="2876088"/>
            <a:ext cx="171450" cy="285750"/>
          </a:xfrm>
          <a:prstGeom prst="rect">
            <a:avLst/>
          </a:prstGeom>
        </p:spPr>
      </p:pic>
      <p:pic>
        <p:nvPicPr>
          <p:cNvPr id="8" name="Image 2" descr="040c4d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3006090"/>
            <a:ext cx="2971800" cy="12096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67125" y="3426381"/>
            <a:ext cx="2095500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Populates vetting</a:t>
            </a:r>
            <a:b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details</a:t>
            </a: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3524250" y="4343400"/>
            <a:ext cx="2446852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Just at a click of a button you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get auto completed vetting</a:t>
            </a:r>
            <a:endParaRPr lang="en-US" dirty="0"/>
          </a:p>
        </p:txBody>
      </p:sp>
      <p:sp>
        <p:nvSpPr>
          <p:cNvPr id="11" name="Shape 6"/>
          <p:cNvSpPr/>
          <p:nvPr/>
        </p:nvSpPr>
        <p:spPr>
          <a:xfrm>
            <a:off x="4476750" y="277749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6E6E6">
                <a:alpha val="65000"/>
              </a:srgbClr>
            </a:solidFill>
            <a:prstDash val="solid"/>
            <a:miter lim="800000"/>
          </a:ln>
        </p:spPr>
      </p:sp>
      <p:pic>
        <p:nvPicPr>
          <p:cNvPr id="12" name="Image 3" descr="60d43d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740" y="2912366"/>
            <a:ext cx="161925" cy="209550"/>
          </a:xfrm>
          <a:prstGeom prst="rect">
            <a:avLst/>
          </a:prstGeom>
        </p:spPr>
      </p:pic>
      <p:pic>
        <p:nvPicPr>
          <p:cNvPr id="13" name="Image 4" descr="-105099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225" y="3006090"/>
            <a:ext cx="2971800" cy="12096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29375" y="3540681"/>
            <a:ext cx="209550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Outputs Resolution</a:t>
            </a: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6286500" y="4343400"/>
            <a:ext cx="2381250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Based on vetting outcome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and agent input</a:t>
            </a:r>
            <a:endParaRPr lang="en-US" dirty="0"/>
          </a:p>
        </p:txBody>
      </p:sp>
      <p:sp>
        <p:nvSpPr>
          <p:cNvPr id="16" name="Shape 9"/>
          <p:cNvSpPr/>
          <p:nvPr/>
        </p:nvSpPr>
        <p:spPr>
          <a:xfrm>
            <a:off x="7239000" y="277749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6E6E6">
                <a:alpha val="48000"/>
              </a:srgbClr>
            </a:solidFill>
            <a:prstDash val="solid"/>
            <a:miter lim="800000"/>
          </a:ln>
        </p:spPr>
      </p:sp>
      <p:pic>
        <p:nvPicPr>
          <p:cNvPr id="17" name="Image 5" descr="-526e8d9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200" y="2898412"/>
            <a:ext cx="161925" cy="238125"/>
          </a:xfrm>
          <a:prstGeom prst="rect">
            <a:avLst/>
          </a:prstGeom>
        </p:spPr>
      </p:pic>
      <p:pic>
        <p:nvPicPr>
          <p:cNvPr id="18" name="Image 6" descr="6dace62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3475" y="3006090"/>
            <a:ext cx="2971800" cy="12096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191625" y="3426381"/>
            <a:ext cx="2095500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Generates</a:t>
            </a:r>
            <a:b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Interaction</a:t>
            </a:r>
            <a:endParaRPr lang="en-US" dirty="0"/>
          </a:p>
        </p:txBody>
      </p:sp>
      <p:sp>
        <p:nvSpPr>
          <p:cNvPr id="20" name="Text 11"/>
          <p:cNvSpPr/>
          <p:nvPr/>
        </p:nvSpPr>
        <p:spPr>
          <a:xfrm>
            <a:off x="9048750" y="4343400"/>
            <a:ext cx="2381250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Ready to copy interaction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with no more input needed.</a:t>
            </a:r>
            <a:endParaRPr lang="en-US" dirty="0"/>
          </a:p>
        </p:txBody>
      </p:sp>
      <p:sp>
        <p:nvSpPr>
          <p:cNvPr id="21" name="Shape 12"/>
          <p:cNvSpPr/>
          <p:nvPr/>
        </p:nvSpPr>
        <p:spPr>
          <a:xfrm>
            <a:off x="10001250" y="277749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6E6E6">
                <a:alpha val="30000"/>
              </a:srgbClr>
            </a:solidFill>
            <a:prstDash val="solid"/>
            <a:miter lim="800000"/>
          </a:ln>
        </p:spPr>
      </p:sp>
      <p:pic>
        <p:nvPicPr>
          <p:cNvPr id="22" name="Image 7" descr="0dbf46a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6125" y="2898412"/>
            <a:ext cx="20955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55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spc="-11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</a:t>
            </a:r>
            <a:endParaRPr lang="en-US" dirty="0"/>
          </a:p>
        </p:txBody>
      </p:sp>
      <p:pic>
        <p:nvPicPr>
          <p:cNvPr id="3" name="Image 0" descr="3a6650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2960253"/>
            <a:ext cx="1085850" cy="552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5319" y="4078843"/>
            <a:ext cx="2114550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One-Click Response</a:t>
            </a:r>
            <a:b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Generation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96385" y="4625459"/>
            <a:ext cx="2212418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No more copy pasting just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clicking buttons.</a:t>
            </a:r>
            <a:endParaRPr lang="en-US" dirty="0"/>
          </a:p>
        </p:txBody>
      </p:sp>
      <p:pic>
        <p:nvPicPr>
          <p:cNvPr id="6" name="Image 1" descr="-450ae0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255" y="2831887"/>
            <a:ext cx="666750" cy="8667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02806" y="4078843"/>
            <a:ext cx="2457450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Quick Access to Pre-set</a:t>
            </a:r>
            <a:b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Snippets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333691" y="4625459"/>
            <a:ext cx="2595681" cy="6400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Offers immediate access to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frequently used responses and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information for faster service.</a:t>
            </a:r>
            <a:endParaRPr lang="en-US" dirty="0"/>
          </a:p>
        </p:txBody>
      </p:sp>
      <p:pic>
        <p:nvPicPr>
          <p:cNvPr id="9" name="Image 2" descr="-56bd95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24" y="2859794"/>
            <a:ext cx="638175" cy="8286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27649" y="4078843"/>
            <a:ext cx="2265639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Automated Extraction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479381" y="4395073"/>
            <a:ext cx="2162175" cy="2133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Auto - fills CRM details</a:t>
            </a:r>
            <a:endParaRPr lang="en-US" dirty="0"/>
          </a:p>
        </p:txBody>
      </p:sp>
      <p:pic>
        <p:nvPicPr>
          <p:cNvPr id="12" name="Image 3" descr="330d24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252" y="2859796"/>
            <a:ext cx="828675" cy="8286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51156" y="4078843"/>
            <a:ext cx="247650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Fully Offline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9180198" y="4395073"/>
            <a:ext cx="2618417" cy="6400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Does not save customer details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as well as link to anything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online ensuring data privacy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55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spc="-11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Impact</a:t>
            </a:r>
            <a:endParaRPr lang="en-US" dirty="0"/>
          </a:p>
        </p:txBody>
      </p:sp>
      <p:pic>
        <p:nvPicPr>
          <p:cNvPr id="3" name="Image 0" descr="-58b6bc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435" y="2688820"/>
            <a:ext cx="457200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1125" y="2514838"/>
            <a:ext cx="2619375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Reduced Average</a:t>
            </a:r>
            <a:b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Handling Time (AHT)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381125" y="3061454"/>
            <a:ext cx="2743914" cy="12801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On average it takes 3.5 minutes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to do a sim swap, but now it only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takes 2.5 minutes or less. 1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minute per call results in 100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minutes a day translating to 33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more customers.</a:t>
            </a:r>
            <a:endParaRPr lang="en-US" dirty="0"/>
          </a:p>
        </p:txBody>
      </p:sp>
      <p:pic>
        <p:nvPicPr>
          <p:cNvPr id="6" name="Image 1" descr="-58b6bc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685" y="2688820"/>
            <a:ext cx="457200" cy="438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6375" y="2514838"/>
            <a:ext cx="2619375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Growth in NPS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286375" y="2831068"/>
            <a:ext cx="2619375" cy="6400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More customers will be able to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reach an agent due to less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handling time.</a:t>
            </a:r>
            <a:endParaRPr lang="en-US" dirty="0"/>
          </a:p>
        </p:txBody>
      </p:sp>
      <p:pic>
        <p:nvPicPr>
          <p:cNvPr id="9" name="Image 2" descr="-58b6bc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685" y="4022320"/>
            <a:ext cx="457200" cy="4381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86375" y="3848338"/>
            <a:ext cx="2619375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Increased Call quality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286375" y="4164568"/>
            <a:ext cx="2700579" cy="6400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Automation of repetitive tasks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minimizes mistakes, enhancing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satisfaction, resolution and NPS.</a:t>
            </a:r>
            <a:endParaRPr lang="en-US" dirty="0"/>
          </a:p>
        </p:txBody>
      </p:sp>
      <p:pic>
        <p:nvPicPr>
          <p:cNvPr id="12" name="Image 3" descr="-58b6bc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935" y="2688820"/>
            <a:ext cx="457200" cy="4381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91625" y="2514838"/>
            <a:ext cx="2619375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Increased Agent</a:t>
            </a:r>
            <a:b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Productivity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9191625" y="3061454"/>
            <a:ext cx="2695460" cy="8534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Less physical and mental strain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creates more room for attention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to detail leading to customer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focus, and steady adherence.</a:t>
            </a:r>
            <a:endParaRPr lang="en-US" dirty="0"/>
          </a:p>
        </p:txBody>
      </p:sp>
      <p:pic>
        <p:nvPicPr>
          <p:cNvPr id="15" name="Image 4" descr="-58b6bc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935" y="4469994"/>
            <a:ext cx="457200" cy="4381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91625" y="4296013"/>
            <a:ext cx="2619375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Faster Agent Training</a:t>
            </a: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9191625" y="4612243"/>
            <a:ext cx="2722249" cy="6400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Structured guidance and readily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available knowledge makes it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easier during onboarding.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55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spc="-11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VISION </a:t>
            </a:r>
            <a:endParaRPr lang="en-US" dirty="0"/>
          </a:p>
        </p:txBody>
      </p:sp>
      <p:pic>
        <p:nvPicPr>
          <p:cNvPr id="3" name="Image 0" descr="17e50b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065" y="2979247"/>
            <a:ext cx="771525" cy="933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738" y="4254103"/>
            <a:ext cx="3248025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Expand Support Scope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9699" y="4570333"/>
            <a:ext cx="3462102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Broaden the range of service lines to 200,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400 and more.</a:t>
            </a:r>
            <a:endParaRPr lang="en-US" dirty="0"/>
          </a:p>
        </p:txBody>
      </p:sp>
      <p:pic>
        <p:nvPicPr>
          <p:cNvPr id="6" name="Image 1" descr="-3e636f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537" y="2990397"/>
            <a:ext cx="1047750" cy="933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91025" y="4254103"/>
            <a:ext cx="3409950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Refine Workflows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274997" y="4570333"/>
            <a:ext cx="3642005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Optimize existing workflows and adding an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editor function as new issues come up.</a:t>
            </a:r>
            <a:endParaRPr lang="en-US" dirty="0"/>
          </a:p>
        </p:txBody>
      </p:sp>
      <p:pic>
        <p:nvPicPr>
          <p:cNvPr id="9" name="Image 2" descr="670588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916" y="3023889"/>
            <a:ext cx="895350" cy="857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62938" y="4254103"/>
            <a:ext cx="3476625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Integration with Systems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8144769" y="4570333"/>
            <a:ext cx="3712962" cy="4267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Connecting it across with various systems to</a:t>
            </a:r>
            <a:b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increase automation and speed.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55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157538"/>
            <a:ext cx="2952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200"/>
              </a:lnSpc>
            </a:pPr>
            <a:r>
              <a:rPr lang="en-US" sz="3750" spc="-11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Demo</a:t>
            </a:r>
            <a:endParaRPr lang="en-US" dirty="0"/>
          </a:p>
        </p:txBody>
      </p:sp>
      <p:pic>
        <p:nvPicPr>
          <p:cNvPr id="3" name="Image 0" descr="icon_25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72250" y="1862138"/>
            <a:ext cx="2857500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6808" y="4811316"/>
            <a:ext cx="1368383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Agent Helper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55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4732b6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3508" y="2051879"/>
            <a:ext cx="2552700" cy="2466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8059" y="4811316"/>
            <a:ext cx="2275882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Question and Answer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88e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Helper – Improving Call Center Efficiency</dc:title>
  <dc:subject>Agent Helper – Improving Call Center Efficiency</dc:subject>
  <dc:creator>Zee Geni</dc:creator>
  <cp:lastModifiedBy>Zee Geni</cp:lastModifiedBy>
  <cp:revision>1</cp:revision>
  <dcterms:created xsi:type="dcterms:W3CDTF">2026-04-24T16:20:37Z</dcterms:created>
  <dcterms:modified xsi:type="dcterms:W3CDTF">2026-04-24T16:20:37Z</dcterms:modified>
</cp:coreProperties>
</file>